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1"/>
  </p:notesMasterIdLst>
  <p:sldIdLst>
    <p:sldId id="257" r:id="rId2"/>
    <p:sldId id="258" r:id="rId3"/>
    <p:sldId id="259" r:id="rId4"/>
    <p:sldId id="266" r:id="rId5"/>
    <p:sldId id="262" r:id="rId6"/>
    <p:sldId id="263" r:id="rId7"/>
    <p:sldId id="264" r:id="rId8"/>
    <p:sldId id="268" r:id="rId9"/>
    <p:sldId id="269" r:id="rId10"/>
  </p:sldIdLst>
  <p:sldSz cx="12192000" cy="6858000"/>
  <p:notesSz cx="6858000" cy="9144000"/>
  <p:embeddedFontLst>
    <p:embeddedFont>
      <p:font typeface="Inter Tight Medium" panose="020B060402020202020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ExtraBold" panose="00000900000000000000" pitchFamily="2" charset="0"/>
      <p:bold r:id="rId20"/>
      <p:boldItalic r:id="rId21"/>
    </p:embeddedFont>
    <p:embeddedFont>
      <p:font typeface="Montserrat Medium" panose="00000600000000000000" pitchFamily="2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  <p15:guide id="3" pos="7469">
          <p15:clr>
            <a:srgbClr val="000000"/>
          </p15:clr>
        </p15:guide>
        <p15:guide id="4" pos="211">
          <p15:clr>
            <a:srgbClr val="000000"/>
          </p15:clr>
        </p15:guide>
        <p15:guide id="5" orient="horz" pos="4110">
          <p15:clr>
            <a:srgbClr val="000000"/>
          </p15:clr>
        </p15:guide>
        <p15:guide id="6" orient="horz" pos="210">
          <p15:clr>
            <a:srgbClr val="000000"/>
          </p15:clr>
        </p15:guide>
        <p15:guide id="7" orient="horz" pos="754">
          <p15:clr>
            <a:srgbClr val="000000"/>
          </p15:clr>
        </p15:guide>
        <p15:guide id="8" orient="horz" pos="3566">
          <p15:clr>
            <a:srgbClr val="000000"/>
          </p15:clr>
        </p15:guide>
        <p15:guide id="9" pos="3727">
          <p15:clr>
            <a:srgbClr val="000000"/>
          </p15:clr>
        </p15:guide>
        <p15:guide id="10" pos="7287">
          <p15:clr>
            <a:srgbClr val="000000"/>
          </p15:clr>
        </p15:guide>
        <p15:guide id="11" pos="4566">
          <p15:clr>
            <a:srgbClr val="000000"/>
          </p15:clr>
        </p15:guide>
        <p15:guide id="12" pos="3114">
          <p15:clr>
            <a:srgbClr val="000000"/>
          </p15:clr>
        </p15:guide>
        <p15:guide id="13" pos="393">
          <p15:clr>
            <a:srgbClr val="000000"/>
          </p15:clr>
        </p15:guide>
        <p15:guide id="14" orient="horz" pos="414">
          <p15:clr>
            <a:srgbClr val="000000"/>
          </p15:clr>
        </p15:guide>
        <p15:guide id="15" orient="horz" pos="390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4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3" y="62"/>
      </p:cViewPr>
      <p:guideLst>
        <p:guide orient="horz" pos="2160"/>
        <p:guide pos="3840"/>
        <p:guide pos="7469"/>
        <p:guide pos="211"/>
        <p:guide orient="horz" pos="4110"/>
        <p:guide orient="horz" pos="210"/>
        <p:guide orient="horz" pos="754"/>
        <p:guide orient="horz" pos="3566"/>
        <p:guide pos="3727"/>
        <p:guide pos="7287"/>
        <p:guide pos="4566"/>
        <p:guide pos="3114"/>
        <p:guide pos="393"/>
        <p:guide orient="horz" pos="414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2bd3e20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86" name="Google Shape;86;g362bd3e20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2bd3e205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95" name="Google Shape;95;g362bd3e205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fd3e53b4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  <p:sp>
        <p:nvSpPr>
          <p:cNvPr id="351" name="Google Shape;351;g39fd3e53b4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>
            <a:spLocks noGrp="1"/>
          </p:cNvSpPr>
          <p:nvPr>
            <p:ph type="pic" idx="2"/>
          </p:nvPr>
        </p:nvSpPr>
        <p:spPr>
          <a:xfrm>
            <a:off x="6275389" y="1206500"/>
            <a:ext cx="5295900" cy="4457700"/>
          </a:xfrm>
          <a:prstGeom prst="roundRect">
            <a:avLst>
              <a:gd name="adj" fmla="val 4701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8" name="Google Shape;8;p2"/>
          <p:cNvSpPr>
            <a:spLocks noGrp="1"/>
          </p:cNvSpPr>
          <p:nvPr>
            <p:ph type="pic" idx="3"/>
          </p:nvPr>
        </p:nvSpPr>
        <p:spPr>
          <a:xfrm>
            <a:off x="347001" y="4430747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Google Shape;9;p2"/>
          <p:cNvSpPr>
            <a:spLocks noGrp="1"/>
          </p:cNvSpPr>
          <p:nvPr>
            <p:ph type="pic" idx="4"/>
          </p:nvPr>
        </p:nvSpPr>
        <p:spPr>
          <a:xfrm>
            <a:off x="836596" y="4430747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" name="Google Shape;10;p2"/>
          <p:cNvSpPr>
            <a:spLocks noGrp="1"/>
          </p:cNvSpPr>
          <p:nvPr>
            <p:ph type="pic" idx="5"/>
          </p:nvPr>
        </p:nvSpPr>
        <p:spPr>
          <a:xfrm>
            <a:off x="1326190" y="4430747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>
            <a:spLocks noGrp="1"/>
          </p:cNvSpPr>
          <p:nvPr>
            <p:ph type="pic" idx="2"/>
          </p:nvPr>
        </p:nvSpPr>
        <p:spPr>
          <a:xfrm>
            <a:off x="6292189" y="1208088"/>
            <a:ext cx="2644882" cy="4473575"/>
          </a:xfrm>
          <a:prstGeom prst="roundRect">
            <a:avLst>
              <a:gd name="adj" fmla="val 7239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Google Shape;13;p3"/>
          <p:cNvSpPr>
            <a:spLocks noGrp="1"/>
          </p:cNvSpPr>
          <p:nvPr>
            <p:ph type="pic" idx="3"/>
          </p:nvPr>
        </p:nvSpPr>
        <p:spPr>
          <a:xfrm>
            <a:off x="9200621" y="1208088"/>
            <a:ext cx="2638954" cy="1949450"/>
          </a:xfrm>
          <a:prstGeom prst="roundRect">
            <a:avLst>
              <a:gd name="adj" fmla="val 10381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>
            <a:spLocks noGrp="1"/>
          </p:cNvSpPr>
          <p:nvPr>
            <p:ph type="pic" idx="2"/>
          </p:nvPr>
        </p:nvSpPr>
        <p:spPr>
          <a:xfrm>
            <a:off x="7248525" y="2412995"/>
            <a:ext cx="2481263" cy="3248030"/>
          </a:xfrm>
          <a:prstGeom prst="roundRect">
            <a:avLst>
              <a:gd name="adj" fmla="val 8258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Google Shape;16;p4"/>
          <p:cNvSpPr>
            <a:spLocks noGrp="1"/>
          </p:cNvSpPr>
          <p:nvPr>
            <p:ph type="pic" idx="3"/>
          </p:nvPr>
        </p:nvSpPr>
        <p:spPr>
          <a:xfrm>
            <a:off x="9989596" y="3833690"/>
            <a:ext cx="1846804" cy="1827335"/>
          </a:xfrm>
          <a:prstGeom prst="roundRect">
            <a:avLst>
              <a:gd name="adj" fmla="val 9913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>
            <a:spLocks noGrp="1"/>
          </p:cNvSpPr>
          <p:nvPr>
            <p:ph type="pic" idx="2"/>
          </p:nvPr>
        </p:nvSpPr>
        <p:spPr>
          <a:xfrm>
            <a:off x="6257925" y="5008931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Google Shape;19;p5"/>
          <p:cNvSpPr>
            <a:spLocks noGrp="1"/>
          </p:cNvSpPr>
          <p:nvPr>
            <p:ph type="pic" idx="3"/>
          </p:nvPr>
        </p:nvSpPr>
        <p:spPr>
          <a:xfrm>
            <a:off x="6747520" y="5008931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Google Shape;20;p5"/>
          <p:cNvSpPr>
            <a:spLocks noGrp="1"/>
          </p:cNvSpPr>
          <p:nvPr>
            <p:ph type="pic" idx="4"/>
          </p:nvPr>
        </p:nvSpPr>
        <p:spPr>
          <a:xfrm>
            <a:off x="7237114" y="5008931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1" name="Google Shape;21;p5"/>
          <p:cNvSpPr>
            <a:spLocks noGrp="1"/>
          </p:cNvSpPr>
          <p:nvPr>
            <p:ph type="pic" idx="5"/>
          </p:nvPr>
        </p:nvSpPr>
        <p:spPr>
          <a:xfrm>
            <a:off x="334964" y="3428998"/>
            <a:ext cx="4611686" cy="2243643"/>
          </a:xfrm>
          <a:prstGeom prst="roundRect">
            <a:avLst>
              <a:gd name="adj" fmla="val 10741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275388" y="1196973"/>
            <a:ext cx="5581652" cy="2197101"/>
          </a:xfrm>
          <a:prstGeom prst="roundRect">
            <a:avLst>
              <a:gd name="adj" fmla="val 8050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9" name="Google Shape;29;p8"/>
          <p:cNvSpPr>
            <a:spLocks noGrp="1"/>
          </p:cNvSpPr>
          <p:nvPr>
            <p:ph type="pic" idx="3"/>
          </p:nvPr>
        </p:nvSpPr>
        <p:spPr>
          <a:xfrm>
            <a:off x="334960" y="3767138"/>
            <a:ext cx="4605339" cy="1893887"/>
          </a:xfrm>
          <a:prstGeom prst="roundRect">
            <a:avLst>
              <a:gd name="adj" fmla="val 8620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>
            <a:spLocks noGrp="1"/>
          </p:cNvSpPr>
          <p:nvPr>
            <p:ph type="pic" idx="2"/>
          </p:nvPr>
        </p:nvSpPr>
        <p:spPr>
          <a:xfrm>
            <a:off x="350330" y="1193584"/>
            <a:ext cx="4580445" cy="2237004"/>
          </a:xfrm>
          <a:prstGeom prst="roundRect">
            <a:avLst>
              <a:gd name="adj" fmla="val 9082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>
            <a:spLocks noGrp="1"/>
          </p:cNvSpPr>
          <p:nvPr>
            <p:ph type="pic" idx="2"/>
          </p:nvPr>
        </p:nvSpPr>
        <p:spPr>
          <a:xfrm>
            <a:off x="6275388" y="1206497"/>
            <a:ext cx="2897189" cy="4454528"/>
          </a:xfrm>
          <a:prstGeom prst="roundRect">
            <a:avLst>
              <a:gd name="adj" fmla="val 7556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4" name="Google Shape;34;p10"/>
          <p:cNvSpPr>
            <a:spLocks noGrp="1"/>
          </p:cNvSpPr>
          <p:nvPr>
            <p:ph type="pic" idx="3"/>
          </p:nvPr>
        </p:nvSpPr>
        <p:spPr>
          <a:xfrm>
            <a:off x="9458328" y="3733011"/>
            <a:ext cx="2409822" cy="1928013"/>
          </a:xfrm>
          <a:prstGeom prst="roundRect">
            <a:avLst>
              <a:gd name="adj" fmla="val 9504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>
            <a:spLocks noGrp="1"/>
          </p:cNvSpPr>
          <p:nvPr>
            <p:ph type="pic" idx="2"/>
          </p:nvPr>
        </p:nvSpPr>
        <p:spPr>
          <a:xfrm>
            <a:off x="331866" y="1770741"/>
            <a:ext cx="2125584" cy="2915194"/>
          </a:xfrm>
          <a:prstGeom prst="roundRect">
            <a:avLst>
              <a:gd name="adj" fmla="val 6137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7" name="Google Shape;37;p11"/>
          <p:cNvSpPr>
            <a:spLocks noGrp="1"/>
          </p:cNvSpPr>
          <p:nvPr>
            <p:ph type="pic" idx="3"/>
          </p:nvPr>
        </p:nvSpPr>
        <p:spPr>
          <a:xfrm>
            <a:off x="2805733" y="1770063"/>
            <a:ext cx="2137742" cy="2916237"/>
          </a:xfrm>
          <a:prstGeom prst="roundRect">
            <a:avLst>
              <a:gd name="adj" fmla="val 6865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>
            <a:spLocks noGrp="1"/>
          </p:cNvSpPr>
          <p:nvPr>
            <p:ph type="pic" idx="2"/>
          </p:nvPr>
        </p:nvSpPr>
        <p:spPr>
          <a:xfrm>
            <a:off x="4944208" y="2413000"/>
            <a:ext cx="1704854" cy="2197100"/>
          </a:xfrm>
          <a:prstGeom prst="roundRect">
            <a:avLst>
              <a:gd name="adj" fmla="val 10410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0" name="Google Shape;40;p12"/>
          <p:cNvSpPr>
            <a:spLocks noGrp="1"/>
          </p:cNvSpPr>
          <p:nvPr>
            <p:ph type="pic" idx="3"/>
          </p:nvPr>
        </p:nvSpPr>
        <p:spPr>
          <a:xfrm>
            <a:off x="6972302" y="2413000"/>
            <a:ext cx="1704854" cy="2197100"/>
          </a:xfrm>
          <a:prstGeom prst="roundRect">
            <a:avLst>
              <a:gd name="adj" fmla="val 10410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1" name="Google Shape;41;p12"/>
          <p:cNvSpPr>
            <a:spLocks noGrp="1"/>
          </p:cNvSpPr>
          <p:nvPr>
            <p:ph type="pic" idx="4"/>
          </p:nvPr>
        </p:nvSpPr>
        <p:spPr>
          <a:xfrm>
            <a:off x="9000395" y="2413000"/>
            <a:ext cx="1704854" cy="2197100"/>
          </a:xfrm>
          <a:prstGeom prst="roundRect">
            <a:avLst>
              <a:gd name="adj" fmla="val 10410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>
            <a:spLocks noGrp="1"/>
          </p:cNvSpPr>
          <p:nvPr>
            <p:ph type="pic" idx="2"/>
          </p:nvPr>
        </p:nvSpPr>
        <p:spPr>
          <a:xfrm>
            <a:off x="6294495" y="3428999"/>
            <a:ext cx="2324418" cy="2232025"/>
          </a:xfrm>
          <a:prstGeom prst="roundRect">
            <a:avLst>
              <a:gd name="adj" fmla="val 9839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4" name="Google Shape;44;p13"/>
          <p:cNvSpPr>
            <a:spLocks noGrp="1"/>
          </p:cNvSpPr>
          <p:nvPr>
            <p:ph type="pic" idx="3"/>
          </p:nvPr>
        </p:nvSpPr>
        <p:spPr>
          <a:xfrm>
            <a:off x="8820151" y="1211229"/>
            <a:ext cx="2740023" cy="4449796"/>
          </a:xfrm>
          <a:prstGeom prst="roundRect">
            <a:avLst>
              <a:gd name="adj" fmla="val 8046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>
            <a:spLocks noGrp="1"/>
          </p:cNvSpPr>
          <p:nvPr>
            <p:ph type="pic" idx="2"/>
          </p:nvPr>
        </p:nvSpPr>
        <p:spPr>
          <a:xfrm>
            <a:off x="334963" y="1196972"/>
            <a:ext cx="2322512" cy="1751016"/>
          </a:xfrm>
          <a:prstGeom prst="roundRect">
            <a:avLst>
              <a:gd name="adj" fmla="val 7692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7" name="Google Shape;47;p14"/>
          <p:cNvSpPr>
            <a:spLocks noGrp="1"/>
          </p:cNvSpPr>
          <p:nvPr>
            <p:ph type="pic" idx="3"/>
          </p:nvPr>
        </p:nvSpPr>
        <p:spPr>
          <a:xfrm>
            <a:off x="8212232" y="4006181"/>
            <a:ext cx="3644807" cy="1654844"/>
          </a:xfrm>
          <a:prstGeom prst="roundRect">
            <a:avLst>
              <a:gd name="adj" fmla="val 8321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>
            <a:spLocks noGrp="1"/>
          </p:cNvSpPr>
          <p:nvPr>
            <p:ph type="pic" idx="2"/>
          </p:nvPr>
        </p:nvSpPr>
        <p:spPr>
          <a:xfrm>
            <a:off x="334963" y="2108644"/>
            <a:ext cx="1457325" cy="1151942"/>
          </a:xfrm>
          <a:prstGeom prst="roundRect">
            <a:avLst>
              <a:gd name="adj" fmla="val 8398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0" name="Google Shape;50;p15"/>
          <p:cNvSpPr>
            <a:spLocks noGrp="1"/>
          </p:cNvSpPr>
          <p:nvPr>
            <p:ph type="pic" idx="3"/>
          </p:nvPr>
        </p:nvSpPr>
        <p:spPr>
          <a:xfrm>
            <a:off x="334963" y="4525786"/>
            <a:ext cx="1457325" cy="1151942"/>
          </a:xfrm>
          <a:prstGeom prst="roundRect">
            <a:avLst>
              <a:gd name="adj" fmla="val 8398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1" name="Google Shape;51;p15"/>
          <p:cNvSpPr>
            <a:spLocks noGrp="1"/>
          </p:cNvSpPr>
          <p:nvPr>
            <p:ph type="pic" idx="4"/>
          </p:nvPr>
        </p:nvSpPr>
        <p:spPr>
          <a:xfrm>
            <a:off x="6275803" y="4525786"/>
            <a:ext cx="1457325" cy="1151942"/>
          </a:xfrm>
          <a:prstGeom prst="roundRect">
            <a:avLst>
              <a:gd name="adj" fmla="val 8398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>
            <a:spLocks noGrp="1"/>
          </p:cNvSpPr>
          <p:nvPr>
            <p:ph type="pic" idx="2"/>
          </p:nvPr>
        </p:nvSpPr>
        <p:spPr>
          <a:xfrm>
            <a:off x="7248528" y="1206500"/>
            <a:ext cx="4608511" cy="1654844"/>
          </a:xfrm>
          <a:prstGeom prst="roundRect">
            <a:avLst>
              <a:gd name="adj" fmla="val 8609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>
            <a:spLocks noGrp="1"/>
          </p:cNvSpPr>
          <p:nvPr>
            <p:ph type="pic" idx="2"/>
          </p:nvPr>
        </p:nvSpPr>
        <p:spPr>
          <a:xfrm>
            <a:off x="342900" y="3428999"/>
            <a:ext cx="4637088" cy="2232026"/>
          </a:xfrm>
          <a:prstGeom prst="roundRect">
            <a:avLst>
              <a:gd name="adj" fmla="val 7705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>
            <a:spLocks noGrp="1"/>
          </p:cNvSpPr>
          <p:nvPr>
            <p:ph type="pic" idx="2"/>
          </p:nvPr>
        </p:nvSpPr>
        <p:spPr>
          <a:xfrm>
            <a:off x="334962" y="1212850"/>
            <a:ext cx="2734469" cy="2235200"/>
          </a:xfrm>
          <a:prstGeom prst="roundRect">
            <a:avLst>
              <a:gd name="adj" fmla="val 8712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8" name="Google Shape;58;p18"/>
          <p:cNvSpPr>
            <a:spLocks noGrp="1"/>
          </p:cNvSpPr>
          <p:nvPr>
            <p:ph type="pic" idx="3"/>
          </p:nvPr>
        </p:nvSpPr>
        <p:spPr>
          <a:xfrm>
            <a:off x="3361532" y="1212849"/>
            <a:ext cx="2734469" cy="4448175"/>
          </a:xfrm>
          <a:prstGeom prst="roundRect">
            <a:avLst>
              <a:gd name="adj" fmla="val 8712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>
            <a:spLocks noGrp="1"/>
          </p:cNvSpPr>
          <p:nvPr>
            <p:ph type="pic" idx="2"/>
          </p:nvPr>
        </p:nvSpPr>
        <p:spPr>
          <a:xfrm>
            <a:off x="334966" y="2685532"/>
            <a:ext cx="1455734" cy="1151942"/>
          </a:xfrm>
          <a:prstGeom prst="roundRect">
            <a:avLst>
              <a:gd name="adj" fmla="val 9225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1" name="Google Shape;61;p19"/>
          <p:cNvSpPr>
            <a:spLocks noGrp="1"/>
          </p:cNvSpPr>
          <p:nvPr>
            <p:ph type="pic" idx="3"/>
          </p:nvPr>
        </p:nvSpPr>
        <p:spPr>
          <a:xfrm>
            <a:off x="334966" y="4509083"/>
            <a:ext cx="1455734" cy="1151942"/>
          </a:xfrm>
          <a:prstGeom prst="roundRect">
            <a:avLst>
              <a:gd name="adj" fmla="val 9225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2" name="Google Shape;62;p19"/>
          <p:cNvSpPr>
            <a:spLocks noGrp="1"/>
          </p:cNvSpPr>
          <p:nvPr>
            <p:ph type="pic" idx="4"/>
          </p:nvPr>
        </p:nvSpPr>
        <p:spPr>
          <a:xfrm>
            <a:off x="6277392" y="2685532"/>
            <a:ext cx="1455734" cy="1151942"/>
          </a:xfrm>
          <a:prstGeom prst="roundRect">
            <a:avLst>
              <a:gd name="adj" fmla="val 9225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3" name="Google Shape;63;p19"/>
          <p:cNvSpPr>
            <a:spLocks noGrp="1"/>
          </p:cNvSpPr>
          <p:nvPr>
            <p:ph type="pic" idx="5"/>
          </p:nvPr>
        </p:nvSpPr>
        <p:spPr>
          <a:xfrm>
            <a:off x="6277392" y="4509083"/>
            <a:ext cx="1455734" cy="1151942"/>
          </a:xfrm>
          <a:prstGeom prst="roundRect">
            <a:avLst>
              <a:gd name="adj" fmla="val 9225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>
            <a:spLocks noGrp="1"/>
          </p:cNvSpPr>
          <p:nvPr>
            <p:ph type="pic" idx="2"/>
          </p:nvPr>
        </p:nvSpPr>
        <p:spPr>
          <a:xfrm>
            <a:off x="334963" y="1196972"/>
            <a:ext cx="4739038" cy="2233615"/>
          </a:xfrm>
          <a:prstGeom prst="roundRect">
            <a:avLst>
              <a:gd name="adj" fmla="val 7804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6264009" y="1225098"/>
            <a:ext cx="2435495" cy="1989590"/>
          </a:xfrm>
          <a:prstGeom prst="roundRect">
            <a:avLst>
              <a:gd name="adj" fmla="val 7665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Custom Layout">
  <p:cSld name="20_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>
            <a:spLocks noGrp="1"/>
          </p:cNvSpPr>
          <p:nvPr>
            <p:ph type="pic" idx="2"/>
          </p:nvPr>
        </p:nvSpPr>
        <p:spPr>
          <a:xfrm>
            <a:off x="6275389" y="1206500"/>
            <a:ext cx="5295900" cy="4457700"/>
          </a:xfrm>
          <a:prstGeom prst="roundRect">
            <a:avLst>
              <a:gd name="adj" fmla="val 4701"/>
            </a:avLst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0" name="Google Shape;70;p22"/>
          <p:cNvSpPr>
            <a:spLocks noGrp="1"/>
          </p:cNvSpPr>
          <p:nvPr>
            <p:ph type="pic" idx="3"/>
          </p:nvPr>
        </p:nvSpPr>
        <p:spPr>
          <a:xfrm>
            <a:off x="347001" y="4430747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1" name="Google Shape;71;p22"/>
          <p:cNvSpPr>
            <a:spLocks noGrp="1"/>
          </p:cNvSpPr>
          <p:nvPr>
            <p:ph type="pic" idx="4"/>
          </p:nvPr>
        </p:nvSpPr>
        <p:spPr>
          <a:xfrm>
            <a:off x="836596" y="4430747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2" name="Google Shape;72;p22"/>
          <p:cNvSpPr>
            <a:spLocks noGrp="1"/>
          </p:cNvSpPr>
          <p:nvPr>
            <p:ph type="pic" idx="5"/>
          </p:nvPr>
        </p:nvSpPr>
        <p:spPr>
          <a:xfrm>
            <a:off x="1326190" y="4430747"/>
            <a:ext cx="654688" cy="65209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png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>
            <a:off x="6506100" y="6570300"/>
            <a:ext cx="5685900" cy="287700"/>
          </a:xfrm>
          <a:prstGeom prst="rect">
            <a:avLst/>
          </a:prstGeom>
          <a:solidFill>
            <a:srgbClr val="FF00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4"/>
          <p:cNvSpPr txBox="1"/>
          <p:nvPr/>
        </p:nvSpPr>
        <p:spPr>
          <a:xfrm>
            <a:off x="989951" y="1913814"/>
            <a:ext cx="8203210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FF03"/>
              </a:buClr>
              <a:buSzPts val="4000"/>
              <a:buFont typeface="Inter Tight ExtraBold"/>
              <a:buNone/>
            </a:pPr>
            <a:r>
              <a:rPr lang="en-US" sz="4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Plataforma de </a:t>
            </a:r>
            <a:r>
              <a:rPr lang="en-US" sz="44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automatizaci</a:t>
            </a:r>
            <a:r>
              <a:rPr lang="es-SV" sz="44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ón</a:t>
            </a:r>
            <a:r>
              <a:rPr lang="en-US" sz="4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44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gesti</a:t>
            </a:r>
            <a:r>
              <a:rPr lang="es-SV" sz="44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ón</a:t>
            </a:r>
            <a:r>
              <a:rPr lang="es-SV" sz="4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4400" dirty="0" err="1">
                <a:solidFill>
                  <a:srgbClr val="FF0009"/>
                </a:solidFill>
                <a:latin typeface="Montserrat ExtraBold"/>
                <a:ea typeface="Montserrat"/>
                <a:cs typeface="Montserrat"/>
                <a:sym typeface="Montserrat ExtraBold"/>
              </a:rPr>
              <a:t>documentos</a:t>
            </a:r>
            <a:r>
              <a:rPr lang="en-US" sz="4400" dirty="0">
                <a:solidFill>
                  <a:srgbClr val="FF000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.</a:t>
            </a:r>
            <a:endParaRPr sz="20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90" name="Google Shape;90;p24"/>
          <p:cNvCxnSpPr/>
          <p:nvPr/>
        </p:nvCxnSpPr>
        <p:spPr>
          <a:xfrm>
            <a:off x="989951" y="4255928"/>
            <a:ext cx="1048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Google Shape;91;p24"/>
          <p:cNvSpPr txBox="1"/>
          <p:nvPr/>
        </p:nvSpPr>
        <p:spPr>
          <a:xfrm>
            <a:off x="989951" y="5253275"/>
            <a:ext cx="68205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lt1"/>
              </a:buClr>
              <a:buSzPts val="1100"/>
            </a:pPr>
            <a:r>
              <a:rPr lang="es-SV" sz="1600" b="1" dirty="0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Presentado por</a:t>
            </a:r>
            <a:r>
              <a:rPr lang="es-419" sz="1600" b="1" dirty="0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s-ES" sz="1600" b="1" dirty="0">
                <a:solidFill>
                  <a:schemeClr val="bg1"/>
                </a:solidFill>
              </a:rPr>
              <a:t>Marco Serrano, Alejandra Ponce, Rodrigo Meléndez.</a:t>
            </a:r>
            <a:endParaRPr sz="16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24" title="datumredsoft-horizontal-logo-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300" y="1102875"/>
            <a:ext cx="2561224" cy="5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/>
          <p:nvPr/>
        </p:nvSpPr>
        <p:spPr>
          <a:xfrm>
            <a:off x="6506100" y="6570300"/>
            <a:ext cx="5685900" cy="287700"/>
          </a:xfrm>
          <a:prstGeom prst="rect">
            <a:avLst/>
          </a:prstGeom>
          <a:solidFill>
            <a:srgbClr val="FF00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5"/>
          <p:cNvSpPr txBox="1"/>
          <p:nvPr/>
        </p:nvSpPr>
        <p:spPr>
          <a:xfrm>
            <a:off x="902375" y="657225"/>
            <a:ext cx="1354500" cy="4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FF03"/>
              </a:buClr>
              <a:buSzPts val="4000"/>
              <a:buFont typeface="Inter Tight ExtraBold"/>
              <a:buNone/>
            </a:pPr>
            <a:r>
              <a:rPr lang="en-US" sz="57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5700" dirty="0">
              <a:solidFill>
                <a:srgbClr val="FF000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r>
              <a:rPr lang="en-US" sz="57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5700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r>
              <a:rPr lang="en-US" sz="57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5700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r>
              <a:rPr lang="en-US" sz="57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5700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r>
              <a:rPr lang="en-US" sz="57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05</a:t>
            </a:r>
            <a:endParaRPr sz="5700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9" name="Google Shape;99;p25"/>
          <p:cNvSpPr txBox="1"/>
          <p:nvPr/>
        </p:nvSpPr>
        <p:spPr>
          <a:xfrm>
            <a:off x="2068624" y="744825"/>
            <a:ext cx="3044149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r>
              <a:rPr lang="en-US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 sz="100" dirty="0"/>
          </a:p>
        </p:txBody>
      </p:sp>
      <p:sp>
        <p:nvSpPr>
          <p:cNvPr id="100" name="Google Shape;100;p25"/>
          <p:cNvSpPr txBox="1"/>
          <p:nvPr/>
        </p:nvSpPr>
        <p:spPr>
          <a:xfrm>
            <a:off x="2068624" y="1606725"/>
            <a:ext cx="473691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Usuarios</a:t>
            </a:r>
            <a:r>
              <a:rPr lang="en-US" sz="4400" dirty="0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 clave</a:t>
            </a:r>
            <a:endParaRPr sz="100" dirty="0"/>
          </a:p>
        </p:txBody>
      </p:sp>
      <p:sp>
        <p:nvSpPr>
          <p:cNvPr id="101" name="Google Shape;101;p25"/>
          <p:cNvSpPr txBox="1"/>
          <p:nvPr/>
        </p:nvSpPr>
        <p:spPr>
          <a:xfrm>
            <a:off x="2068625" y="2465775"/>
            <a:ext cx="3044148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Resumen</a:t>
            </a:r>
            <a:endParaRPr sz="100" dirty="0"/>
          </a:p>
        </p:txBody>
      </p:sp>
      <p:sp>
        <p:nvSpPr>
          <p:cNvPr id="102" name="Google Shape;102;p25"/>
          <p:cNvSpPr txBox="1"/>
          <p:nvPr/>
        </p:nvSpPr>
        <p:spPr>
          <a:xfrm>
            <a:off x="2068625" y="3327675"/>
            <a:ext cx="4079752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Arquitectura</a:t>
            </a:r>
            <a:endParaRPr sz="100" dirty="0"/>
          </a:p>
        </p:txBody>
      </p:sp>
      <p:sp>
        <p:nvSpPr>
          <p:cNvPr id="103" name="Google Shape;103;p25"/>
          <p:cNvSpPr txBox="1"/>
          <p:nvPr/>
        </p:nvSpPr>
        <p:spPr>
          <a:xfrm>
            <a:off x="2068624" y="4186725"/>
            <a:ext cx="4437475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0009"/>
                </a:solidFill>
                <a:latin typeface="Montserrat"/>
                <a:sym typeface="Montserrat"/>
              </a:rPr>
              <a:t>Demostraci</a:t>
            </a:r>
            <a:r>
              <a:rPr lang="es-MX" sz="4400" dirty="0" err="1">
                <a:solidFill>
                  <a:srgbClr val="FF0009"/>
                </a:solidFill>
                <a:latin typeface="Montserrat"/>
                <a:sym typeface="Montserrat"/>
              </a:rPr>
              <a:t>ón</a:t>
            </a:r>
            <a:endParaRPr sz="100" dirty="0"/>
          </a:p>
        </p:txBody>
      </p:sp>
      <p:sp>
        <p:nvSpPr>
          <p:cNvPr id="104" name="Google Shape;104;p25"/>
          <p:cNvSpPr txBox="1"/>
          <p:nvPr/>
        </p:nvSpPr>
        <p:spPr>
          <a:xfrm>
            <a:off x="7108701" y="680181"/>
            <a:ext cx="1354500" cy="272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FF03"/>
              </a:buClr>
              <a:buSzPts val="4000"/>
              <a:buFont typeface="Inter Tight ExtraBold"/>
              <a:buNone/>
            </a:pPr>
            <a:r>
              <a:rPr lang="en-US" sz="57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06</a:t>
            </a:r>
            <a:endParaRPr sz="5700" dirty="0">
              <a:solidFill>
                <a:srgbClr val="FF000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r>
              <a:rPr lang="en-US" sz="57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07</a:t>
            </a:r>
            <a:endParaRPr sz="5700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endParaRPr sz="5700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8274950" y="767781"/>
            <a:ext cx="3382409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Validaci</a:t>
            </a:r>
            <a:r>
              <a:rPr lang="es-SV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ón</a:t>
            </a:r>
            <a:endParaRPr sz="100" dirty="0"/>
          </a:p>
        </p:txBody>
      </p:sp>
      <p:sp>
        <p:nvSpPr>
          <p:cNvPr id="106" name="Google Shape;106;p25"/>
          <p:cNvSpPr txBox="1"/>
          <p:nvPr/>
        </p:nvSpPr>
        <p:spPr>
          <a:xfrm>
            <a:off x="8274951" y="1629681"/>
            <a:ext cx="3258288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Retos</a:t>
            </a:r>
            <a:r>
              <a:rPr lang="en-US" sz="4400" dirty="0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4400" dirty="0" err="1">
                <a:solidFill>
                  <a:srgbClr val="FF0009"/>
                </a:solidFill>
                <a:latin typeface="Montserrat"/>
                <a:ea typeface="Montserrat"/>
                <a:cs typeface="Montserrat"/>
                <a:sym typeface="Montserrat"/>
              </a:rPr>
              <a:t>decisiones</a:t>
            </a:r>
            <a:endParaRPr sz="100" dirty="0"/>
          </a:p>
        </p:txBody>
      </p:sp>
      <p:pic>
        <p:nvPicPr>
          <p:cNvPr id="110" name="Google Shape;110;p25" title="datumredsoft-horizontal-logo-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3525" y="228350"/>
            <a:ext cx="2561224" cy="5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>
            <a:spLocks noGrp="1"/>
          </p:cNvSpPr>
          <p:nvPr>
            <p:ph type="pic" idx="2"/>
          </p:nvPr>
        </p:nvSpPr>
        <p:spPr>
          <a:xfrm>
            <a:off x="6165900" y="-100"/>
            <a:ext cx="60261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endParaRPr lang="es-ES"/>
          </a:p>
        </p:txBody>
      </p:sp>
      <p:sp>
        <p:nvSpPr>
          <p:cNvPr id="116" name="Google Shape;116;p26"/>
          <p:cNvSpPr txBox="1"/>
          <p:nvPr/>
        </p:nvSpPr>
        <p:spPr>
          <a:xfrm>
            <a:off x="685850" y="1959354"/>
            <a:ext cx="3624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FF03"/>
              </a:buClr>
              <a:buSzPts val="4000"/>
              <a:buFont typeface="Inter Tight ExtraBold"/>
              <a:buNone/>
            </a:pPr>
            <a:r>
              <a:rPr lang="en-US" sz="4800" i="0" u="none" dirty="0" err="1">
                <a:solidFill>
                  <a:srgbClr val="FF000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</a:t>
            </a:r>
            <a:endParaRPr sz="18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684275" y="2790310"/>
            <a:ext cx="46212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 Tight Medium"/>
              <a:buNone/>
            </a:pPr>
            <a:r>
              <a:rPr lang="es-MX" sz="1600" i="0" u="none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Desarrollar una plataforma web móvil que permita a los usuarios capturar y procesar automáticamente facturas y recibos mediante tecnologías OCR, con el fin de centralizar la información para mejorar la eficiencia, y control de los procesos administrativos y financieros.</a:t>
            </a:r>
            <a:endParaRPr sz="20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22" name="Google Shape;122;p26"/>
          <p:cNvCxnSpPr/>
          <p:nvPr/>
        </p:nvCxnSpPr>
        <p:spPr>
          <a:xfrm>
            <a:off x="684275" y="5767568"/>
            <a:ext cx="4621200" cy="0"/>
          </a:xfrm>
          <a:prstGeom prst="straightConnector1">
            <a:avLst/>
          </a:prstGeom>
          <a:noFill/>
          <a:ln w="9525" cap="flat" cmpd="sng">
            <a:solidFill>
              <a:srgbClr val="FF0009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3" name="Google Shape;123;p26"/>
          <p:cNvSpPr/>
          <p:nvPr/>
        </p:nvSpPr>
        <p:spPr>
          <a:xfrm>
            <a:off x="5203875" y="1203325"/>
            <a:ext cx="203200" cy="204787"/>
          </a:xfrm>
          <a:custGeom>
            <a:avLst/>
            <a:gdLst/>
            <a:ahLst/>
            <a:cxnLst/>
            <a:rect l="l" t="t" r="r" b="b"/>
            <a:pathLst>
              <a:path w="372" h="372" extrusionOk="0">
                <a:moveTo>
                  <a:pt x="0" y="0"/>
                </a:moveTo>
                <a:lnTo>
                  <a:pt x="0" y="372"/>
                </a:lnTo>
                <a:lnTo>
                  <a:pt x="58" y="372"/>
                </a:lnTo>
                <a:lnTo>
                  <a:pt x="58" y="100"/>
                </a:lnTo>
                <a:lnTo>
                  <a:pt x="330" y="371"/>
                </a:lnTo>
                <a:lnTo>
                  <a:pt x="371" y="330"/>
                </a:lnTo>
                <a:lnTo>
                  <a:pt x="100" y="58"/>
                </a:lnTo>
                <a:lnTo>
                  <a:pt x="372" y="58"/>
                </a:lnTo>
                <a:lnTo>
                  <a:pt x="3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pic>
        <p:nvPicPr>
          <p:cNvPr id="124" name="Google Shape;124;p26" title="datumredsoft-horizontal-logo-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375" y="1096163"/>
            <a:ext cx="2078336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F7311DA-43D3-0EF5-EF92-B34501A79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8" name="Freeform 23">
            <a:extLst>
              <a:ext uri="{FF2B5EF4-FFF2-40B4-BE49-F238E27FC236}">
                <a16:creationId xmlns:a16="http://schemas.microsoft.com/office/drawing/2014/main" id="{4DA3FBC7-868C-AC46-8BFF-CD6BFCE9F895}"/>
              </a:ext>
            </a:extLst>
          </p:cNvPr>
          <p:cNvSpPr/>
          <p:nvPr/>
        </p:nvSpPr>
        <p:spPr>
          <a:xfrm>
            <a:off x="5643716" y="0"/>
            <a:ext cx="6548284" cy="6857899"/>
          </a:xfrm>
          <a:custGeom>
            <a:avLst/>
            <a:gdLst/>
            <a:ahLst/>
            <a:cxnLst/>
            <a:rect l="l" t="t" r="r" b="b"/>
            <a:pathLst>
              <a:path w="12328989" h="8229600">
                <a:moveTo>
                  <a:pt x="0" y="0"/>
                </a:moveTo>
                <a:lnTo>
                  <a:pt x="12328988" y="0"/>
                </a:lnTo>
                <a:lnTo>
                  <a:pt x="123289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/>
        </p:nvSpPr>
        <p:spPr>
          <a:xfrm>
            <a:off x="948500" y="2442923"/>
            <a:ext cx="500387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s-MX" sz="1600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Cada perfil dentro de la organización obtiene beneficios específicos al usar la plataforma. </a:t>
            </a:r>
            <a:endParaRPr sz="20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9" name="Google Shape;259;p33"/>
          <p:cNvSpPr txBox="1"/>
          <p:nvPr/>
        </p:nvSpPr>
        <p:spPr>
          <a:xfrm>
            <a:off x="861099" y="878190"/>
            <a:ext cx="509127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 Tight ExtraBold"/>
              <a:buNone/>
            </a:pPr>
            <a:r>
              <a:rPr lang="en-US" sz="4000" i="0" u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Nuestros </a:t>
            </a:r>
            <a:r>
              <a:rPr lang="en-US" sz="4000" i="0" u="none" dirty="0" err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usuarios</a:t>
            </a:r>
            <a:endParaRPr lang="en-US" sz="4000" i="0" u="none" dirty="0">
              <a:solidFill>
                <a:schemeClr val="dk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 Tight ExtraBold"/>
              <a:buNone/>
            </a:pPr>
            <a:r>
              <a:rPr lang="en-US" sz="4000" dirty="0">
                <a:solidFill>
                  <a:srgbClr val="FF000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Clave</a:t>
            </a:r>
            <a:r>
              <a:rPr lang="en-US" sz="4000" i="0" u="none" dirty="0">
                <a:solidFill>
                  <a:srgbClr val="FF000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.</a:t>
            </a:r>
            <a:endParaRPr dirty="0">
              <a:solidFill>
                <a:srgbClr val="FF000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0" name="Google Shape;260;p33"/>
          <p:cNvSpPr/>
          <p:nvPr/>
        </p:nvSpPr>
        <p:spPr>
          <a:xfrm rot="-5400000">
            <a:off x="8102689" y="-89350"/>
            <a:ext cx="1955700" cy="5007000"/>
          </a:xfrm>
          <a:prstGeom prst="roundRect">
            <a:avLst>
              <a:gd name="adj" fmla="val 11076"/>
            </a:avLst>
          </a:prstGeom>
          <a:solidFill>
            <a:srgbClr val="171A1F"/>
          </a:solidFill>
          <a:ln w="12700" cap="flat" cmpd="sng">
            <a:solidFill>
              <a:srgbClr val="FF000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6695968" y="1888946"/>
            <a:ext cx="322951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s-MX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</a:t>
            </a:r>
            <a:r>
              <a:rPr lang="es-MX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Antes tenía que guardar todas mis facturas del viaje y digitarlas en Excel al final del mes. Ahora solo las escaneo al momento y quedan registradas.”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3" name="Google Shape;273;p33"/>
          <p:cNvSpPr txBox="1"/>
          <p:nvPr/>
        </p:nvSpPr>
        <p:spPr>
          <a:xfrm>
            <a:off x="8028862" y="1458476"/>
            <a:ext cx="20573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Tight Medium"/>
              <a:buNone/>
            </a:pPr>
            <a:r>
              <a:rPr lang="en-US" sz="1800" b="1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Colaboradores</a:t>
            </a:r>
            <a:endParaRPr sz="1100" b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6318288" y="700647"/>
            <a:ext cx="338100" cy="338100"/>
          </a:xfrm>
          <a:prstGeom prst="ellipse">
            <a:avLst/>
          </a:prstGeom>
          <a:solidFill>
            <a:srgbClr val="171A1F"/>
          </a:solidFill>
          <a:ln w="12700" cap="flat" cmpd="sng">
            <a:solidFill>
              <a:srgbClr val="FF000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6397637" y="788489"/>
            <a:ext cx="179402" cy="179402"/>
          </a:xfrm>
          <a:custGeom>
            <a:avLst/>
            <a:gdLst/>
            <a:ahLst/>
            <a:cxnLst/>
            <a:rect l="l" t="t" r="r" b="b"/>
            <a:pathLst>
              <a:path w="179852" h="179852" extrusionOk="0">
                <a:moveTo>
                  <a:pt x="23839" y="68775"/>
                </a:moveTo>
                <a:lnTo>
                  <a:pt x="68775" y="68775"/>
                </a:lnTo>
                <a:lnTo>
                  <a:pt x="68775" y="23839"/>
                </a:lnTo>
                <a:lnTo>
                  <a:pt x="111077" y="23839"/>
                </a:lnTo>
                <a:lnTo>
                  <a:pt x="111077" y="68775"/>
                </a:lnTo>
                <a:lnTo>
                  <a:pt x="156013" y="68775"/>
                </a:lnTo>
                <a:lnTo>
                  <a:pt x="156013" y="111077"/>
                </a:lnTo>
                <a:lnTo>
                  <a:pt x="111077" y="111077"/>
                </a:lnTo>
                <a:lnTo>
                  <a:pt x="111077" y="156013"/>
                </a:lnTo>
                <a:lnTo>
                  <a:pt x="68775" y="156013"/>
                </a:lnTo>
                <a:lnTo>
                  <a:pt x="68775" y="111077"/>
                </a:lnTo>
                <a:lnTo>
                  <a:pt x="23839" y="111077"/>
                </a:lnTo>
                <a:lnTo>
                  <a:pt x="23839" y="68775"/>
                </a:lnTo>
                <a:close/>
              </a:path>
            </a:pathLst>
          </a:custGeom>
          <a:solidFill>
            <a:srgbClr val="FF00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pic>
        <p:nvPicPr>
          <p:cNvPr id="304" name="Google Shape;304;p33" title="datumredsoft-horizontal-logo-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5825" y="6124575"/>
            <a:ext cx="2561224" cy="5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6">
            <a:extLst>
              <a:ext uri="{FF2B5EF4-FFF2-40B4-BE49-F238E27FC236}">
                <a16:creationId xmlns:a16="http://schemas.microsoft.com/office/drawing/2014/main" id="{6A78E1FF-780C-3E61-659E-A79EA6AB233B}"/>
              </a:ext>
            </a:extLst>
          </p:cNvPr>
          <p:cNvSpPr/>
          <p:nvPr/>
        </p:nvSpPr>
        <p:spPr>
          <a:xfrm>
            <a:off x="10013431" y="1864235"/>
            <a:ext cx="1311300" cy="931176"/>
          </a:xfrm>
          <a:custGeom>
            <a:avLst/>
            <a:gdLst/>
            <a:ahLst/>
            <a:cxnLst/>
            <a:rect l="l" t="t" r="r" b="b"/>
            <a:pathLst>
              <a:path w="928701" h="703491">
                <a:moveTo>
                  <a:pt x="0" y="0"/>
                </a:moveTo>
                <a:lnTo>
                  <a:pt x="928702" y="0"/>
                </a:lnTo>
                <a:lnTo>
                  <a:pt x="928702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Google Shape;260;p33">
            <a:extLst>
              <a:ext uri="{FF2B5EF4-FFF2-40B4-BE49-F238E27FC236}">
                <a16:creationId xmlns:a16="http://schemas.microsoft.com/office/drawing/2014/main" id="{0F24EC07-5137-CA8B-8449-5195B44C0C54}"/>
              </a:ext>
            </a:extLst>
          </p:cNvPr>
          <p:cNvSpPr/>
          <p:nvPr/>
        </p:nvSpPr>
        <p:spPr>
          <a:xfrm rot="16200000">
            <a:off x="2281925" y="2395238"/>
            <a:ext cx="1955700" cy="5007000"/>
          </a:xfrm>
          <a:prstGeom prst="roundRect">
            <a:avLst>
              <a:gd name="adj" fmla="val 11076"/>
            </a:avLst>
          </a:prstGeom>
          <a:solidFill>
            <a:srgbClr val="171A1F"/>
          </a:solidFill>
          <a:ln w="12700" cap="flat" cmpd="sng">
            <a:solidFill>
              <a:srgbClr val="FF000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4" name="Google Shape;271;p33">
            <a:extLst>
              <a:ext uri="{FF2B5EF4-FFF2-40B4-BE49-F238E27FC236}">
                <a16:creationId xmlns:a16="http://schemas.microsoft.com/office/drawing/2014/main" id="{E9492600-C3E8-C4F3-655C-CE48F8E26C3B}"/>
              </a:ext>
            </a:extLst>
          </p:cNvPr>
          <p:cNvSpPr txBox="1"/>
          <p:nvPr/>
        </p:nvSpPr>
        <p:spPr>
          <a:xfrm>
            <a:off x="899257" y="4397195"/>
            <a:ext cx="2750506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s-MX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</a:t>
            </a:r>
            <a:r>
              <a:rPr lang="es-MX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Puedo ir consultando los detalles de cada factura y </a:t>
            </a:r>
            <a:r>
              <a:rPr lang="es-MX" sz="1600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reporte</a:t>
            </a:r>
            <a:r>
              <a:rPr lang="es-MX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cuando lo necesito, y al final del mes corroboro toda la información junto con el colaborador.”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Google Shape;273;p33">
            <a:extLst>
              <a:ext uri="{FF2B5EF4-FFF2-40B4-BE49-F238E27FC236}">
                <a16:creationId xmlns:a16="http://schemas.microsoft.com/office/drawing/2014/main" id="{7488854E-902F-33E7-434D-1C53BD395FB6}"/>
              </a:ext>
            </a:extLst>
          </p:cNvPr>
          <p:cNvSpPr txBox="1"/>
          <p:nvPr/>
        </p:nvSpPr>
        <p:spPr>
          <a:xfrm>
            <a:off x="2232150" y="3966725"/>
            <a:ext cx="20573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Tight Medium"/>
              <a:buNone/>
            </a:pPr>
            <a:r>
              <a:rPr lang="en-US" sz="1800" b="1" i="0" u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Contabilidad</a:t>
            </a:r>
            <a:endParaRPr sz="1100" b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260;p33">
            <a:extLst>
              <a:ext uri="{FF2B5EF4-FFF2-40B4-BE49-F238E27FC236}">
                <a16:creationId xmlns:a16="http://schemas.microsoft.com/office/drawing/2014/main" id="{41DA5C68-1F2B-8467-4AAD-47A219C0782F}"/>
              </a:ext>
            </a:extLst>
          </p:cNvPr>
          <p:cNvSpPr/>
          <p:nvPr/>
        </p:nvSpPr>
        <p:spPr>
          <a:xfrm rot="16200000">
            <a:off x="8012988" y="2340295"/>
            <a:ext cx="1955700" cy="5007000"/>
          </a:xfrm>
          <a:prstGeom prst="roundRect">
            <a:avLst>
              <a:gd name="adj" fmla="val 11076"/>
            </a:avLst>
          </a:prstGeom>
          <a:solidFill>
            <a:srgbClr val="171A1F"/>
          </a:solidFill>
          <a:ln w="12700" cap="flat" cmpd="sng">
            <a:solidFill>
              <a:srgbClr val="FF000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Inter Tight Medium"/>
              <a:ea typeface="Inter Tight Medium"/>
              <a:cs typeface="Inter Tight Medium"/>
              <a:sym typeface="Inter Tight Medium"/>
            </a:endParaRPr>
          </a:p>
        </p:txBody>
      </p:sp>
      <p:sp>
        <p:nvSpPr>
          <p:cNvPr id="8" name="Google Shape;271;p33">
            <a:extLst>
              <a:ext uri="{FF2B5EF4-FFF2-40B4-BE49-F238E27FC236}">
                <a16:creationId xmlns:a16="http://schemas.microsoft.com/office/drawing/2014/main" id="{A1B92364-8A32-D20C-4622-DB6BC799EB9D}"/>
              </a:ext>
            </a:extLst>
          </p:cNvPr>
          <p:cNvSpPr txBox="1"/>
          <p:nvPr/>
        </p:nvSpPr>
        <p:spPr>
          <a:xfrm>
            <a:off x="6784459" y="4477028"/>
            <a:ext cx="275050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s-MX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</a:t>
            </a:r>
            <a:r>
              <a:rPr lang="es-MX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Ahora puedo visualizar el estado general de los gastos en tiempo real, sin esperar al cierre del mes.”</a:t>
            </a:r>
            <a:endParaRPr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Google Shape;273;p33">
            <a:extLst>
              <a:ext uri="{FF2B5EF4-FFF2-40B4-BE49-F238E27FC236}">
                <a16:creationId xmlns:a16="http://schemas.microsoft.com/office/drawing/2014/main" id="{CCC52A32-6D6A-7C9A-79DE-A83E8C5D80F0}"/>
              </a:ext>
            </a:extLst>
          </p:cNvPr>
          <p:cNvSpPr txBox="1"/>
          <p:nvPr/>
        </p:nvSpPr>
        <p:spPr>
          <a:xfrm>
            <a:off x="8028862" y="4015559"/>
            <a:ext cx="20573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Tight Medium"/>
              <a:buNone/>
            </a:pPr>
            <a:r>
              <a:rPr lang="en-US" sz="1800" b="1" i="0" u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Direcci</a:t>
            </a:r>
            <a:r>
              <a:rPr lang="es-SV" sz="1800" b="1" i="0" u="none" dirty="0" err="1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ó</a:t>
            </a:r>
            <a:r>
              <a:rPr lang="en-US" sz="1800" b="1" i="0" u="none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</a:t>
            </a:r>
            <a:endParaRPr sz="1100" b="1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819E81A-41F6-4A0F-9315-A7BE22AFA18C}"/>
              </a:ext>
            </a:extLst>
          </p:cNvPr>
          <p:cNvSpPr/>
          <p:nvPr/>
        </p:nvSpPr>
        <p:spPr>
          <a:xfrm>
            <a:off x="3894946" y="4520502"/>
            <a:ext cx="756473" cy="756473"/>
          </a:xfrm>
          <a:custGeom>
            <a:avLst/>
            <a:gdLst/>
            <a:ahLst/>
            <a:cxnLst/>
            <a:rect l="l" t="t" r="r" b="b"/>
            <a:pathLst>
              <a:path w="756473" h="756473">
                <a:moveTo>
                  <a:pt x="0" y="0"/>
                </a:moveTo>
                <a:lnTo>
                  <a:pt x="756473" y="0"/>
                </a:lnTo>
                <a:lnTo>
                  <a:pt x="756473" y="756473"/>
                </a:lnTo>
                <a:lnTo>
                  <a:pt x="0" y="756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14" name="Freeform 18">
            <a:extLst>
              <a:ext uri="{FF2B5EF4-FFF2-40B4-BE49-F238E27FC236}">
                <a16:creationId xmlns:a16="http://schemas.microsoft.com/office/drawing/2014/main" id="{55F81705-3693-85C9-F473-DD71547EE735}"/>
              </a:ext>
            </a:extLst>
          </p:cNvPr>
          <p:cNvSpPr/>
          <p:nvPr/>
        </p:nvSpPr>
        <p:spPr>
          <a:xfrm>
            <a:off x="9925488" y="4347697"/>
            <a:ext cx="756473" cy="810145"/>
          </a:xfrm>
          <a:custGeom>
            <a:avLst/>
            <a:gdLst/>
            <a:ahLst/>
            <a:cxnLst/>
            <a:rect l="l" t="t" r="r" b="b"/>
            <a:pathLst>
              <a:path w="756473" h="810145">
                <a:moveTo>
                  <a:pt x="0" y="0"/>
                </a:moveTo>
                <a:lnTo>
                  <a:pt x="756473" y="0"/>
                </a:lnTo>
                <a:lnTo>
                  <a:pt x="756473" y="810145"/>
                </a:lnTo>
                <a:lnTo>
                  <a:pt x="0" y="810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9" title="datumredsoft-horizontal-logo-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5825" y="6124575"/>
            <a:ext cx="2561224" cy="5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5">
            <a:extLst>
              <a:ext uri="{FF2B5EF4-FFF2-40B4-BE49-F238E27FC236}">
                <a16:creationId xmlns:a16="http://schemas.microsoft.com/office/drawing/2014/main" id="{2E979786-4036-7F00-BBF0-7EE7CEE280C6}"/>
              </a:ext>
            </a:extLst>
          </p:cNvPr>
          <p:cNvSpPr txBox="1"/>
          <p:nvPr/>
        </p:nvSpPr>
        <p:spPr>
          <a:xfrm>
            <a:off x="989446" y="599959"/>
            <a:ext cx="5196546" cy="1540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286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Montserrat ExtraBold" panose="00000900000000000000" pitchFamily="2" charset="0"/>
                <a:ea typeface="Poppins Bold"/>
                <a:cs typeface="Poppins Bold"/>
                <a:sym typeface="Poppins Bold"/>
              </a:rPr>
              <a:t>De</a:t>
            </a:r>
            <a:r>
              <a:rPr lang="en-US" sz="4000" b="1" u="none" strike="noStrike" dirty="0">
                <a:solidFill>
                  <a:srgbClr val="FFFFFF"/>
                </a:solidFill>
                <a:latin typeface="Montserrat ExtraBold" panose="00000900000000000000" pitchFamily="2" charset="0"/>
                <a:ea typeface="Poppins Bold"/>
                <a:cs typeface="Poppins Bold"/>
                <a:sym typeface="Poppins Bold"/>
              </a:rPr>
              <a:t>l excel manual a la </a:t>
            </a:r>
            <a:r>
              <a:rPr lang="en-US" sz="4000" b="1" u="none" strike="noStrike" dirty="0" err="1">
                <a:solidFill>
                  <a:srgbClr val="FF0000"/>
                </a:solidFill>
                <a:latin typeface="Montserrat ExtraBold" panose="00000900000000000000" pitchFamily="2" charset="0"/>
                <a:ea typeface="Poppins Bold"/>
                <a:cs typeface="Poppins Bold"/>
                <a:sym typeface="Poppins Bold"/>
              </a:rPr>
              <a:t>captura</a:t>
            </a:r>
            <a:r>
              <a:rPr lang="en-US" sz="4000" b="1" u="none" strike="noStrike" dirty="0">
                <a:solidFill>
                  <a:srgbClr val="FF0000"/>
                </a:solidFill>
                <a:latin typeface="Montserrat ExtraBold" panose="00000900000000000000" pitchFamily="2" charset="0"/>
                <a:ea typeface="Poppins Bold"/>
                <a:cs typeface="Poppins Bold"/>
                <a:sym typeface="Poppins Bold"/>
              </a:rPr>
              <a:t> digital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0C1E1B7A-35E8-949C-4136-302BB69743C9}"/>
              </a:ext>
            </a:extLst>
          </p:cNvPr>
          <p:cNvSpPr txBox="1"/>
          <p:nvPr/>
        </p:nvSpPr>
        <p:spPr>
          <a:xfrm>
            <a:off x="6985477" y="1370266"/>
            <a:ext cx="4217077" cy="120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proceso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reporte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gastos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era un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flujo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manual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basado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Excel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conllevaba</a:t>
            </a: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a:</a:t>
            </a: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10B00C34-0649-DFB2-0CC2-557D7744ACD7}"/>
              </a:ext>
            </a:extLst>
          </p:cNvPr>
          <p:cNvSpPr/>
          <p:nvPr/>
        </p:nvSpPr>
        <p:spPr>
          <a:xfrm>
            <a:off x="1873525" y="3116393"/>
            <a:ext cx="7644101" cy="3008182"/>
          </a:xfrm>
          <a:custGeom>
            <a:avLst/>
            <a:gdLst/>
            <a:ahLst/>
            <a:cxnLst/>
            <a:rect l="l" t="t" r="r" b="b"/>
            <a:pathLst>
              <a:path w="10359721" h="4528045">
                <a:moveTo>
                  <a:pt x="0" y="0"/>
                </a:moveTo>
                <a:lnTo>
                  <a:pt x="10359720" y="0"/>
                </a:lnTo>
                <a:lnTo>
                  <a:pt x="10359720" y="4528044"/>
                </a:lnTo>
                <a:lnTo>
                  <a:pt x="0" y="4528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3460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657D0ED3-4EEF-60FA-EF31-F6C00F9FEA44}"/>
              </a:ext>
            </a:extLst>
          </p:cNvPr>
          <p:cNvSpPr txBox="1"/>
          <p:nvPr/>
        </p:nvSpPr>
        <p:spPr>
          <a:xfrm>
            <a:off x="2022235" y="4162889"/>
            <a:ext cx="2330780" cy="11580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lang="en-US" sz="1800" dirty="0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Doble </a:t>
            </a:r>
            <a:r>
              <a:rPr lang="en-US" sz="1800" dirty="0" err="1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digitación</a:t>
            </a:r>
            <a:r>
              <a:rPr lang="en-US" sz="1800" dirty="0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 (Excel + Conta).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FE335C04-75E6-7F52-F4E9-0AEB6B79F567}"/>
              </a:ext>
            </a:extLst>
          </p:cNvPr>
          <p:cNvSpPr txBox="1"/>
          <p:nvPr/>
        </p:nvSpPr>
        <p:spPr>
          <a:xfrm>
            <a:off x="7117259" y="3842000"/>
            <a:ext cx="2178566" cy="179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859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Conciliación</a:t>
            </a:r>
            <a:r>
              <a:rPr lang="en-US" sz="1800" u="none" strike="noStrike" dirty="0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 manual (Excel vs. Papel).</a:t>
            </a: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9E69F1E4-6B62-8CC9-B4A3-E58C908CAACD}"/>
              </a:ext>
            </a:extLst>
          </p:cNvPr>
          <p:cNvSpPr txBox="1"/>
          <p:nvPr/>
        </p:nvSpPr>
        <p:spPr>
          <a:xfrm>
            <a:off x="4880111" y="3842000"/>
            <a:ext cx="1630928" cy="1799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ctr">
              <a:lnSpc>
                <a:spcPts val="4859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Alto </a:t>
            </a:r>
            <a:r>
              <a:rPr lang="en-US" sz="1800" u="none" strike="noStrike" dirty="0" err="1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riesgo</a:t>
            </a:r>
            <a:r>
              <a:rPr lang="en-US" sz="1800" u="none" strike="noStrike" dirty="0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 de </a:t>
            </a:r>
            <a:r>
              <a:rPr lang="en-US" sz="1800" u="none" strike="noStrike" dirty="0" err="1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errores</a:t>
            </a:r>
            <a:r>
              <a:rPr lang="en-US" sz="1800" u="none" strike="noStrike" dirty="0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latin typeface="Montserrat Medium" panose="00000600000000000000" pitchFamily="2" charset="0"/>
                <a:ea typeface="Poppins Bold"/>
                <a:cs typeface="Poppins Bold"/>
                <a:sym typeface="Poppins Bold"/>
              </a:rPr>
              <a:t>manuales</a:t>
            </a:r>
            <a:endParaRPr lang="en-US" sz="1800" u="none" strike="noStrike" dirty="0">
              <a:solidFill>
                <a:schemeClr val="tx1"/>
              </a:solidFill>
              <a:latin typeface="Montserrat Medium" panose="00000600000000000000" pitchFamily="2" charset="0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0" title="datumredsoft-horizontal-logo-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5825" y="6124575"/>
            <a:ext cx="2561224" cy="516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7">
            <a:extLst>
              <a:ext uri="{FF2B5EF4-FFF2-40B4-BE49-F238E27FC236}">
                <a16:creationId xmlns:a16="http://schemas.microsoft.com/office/drawing/2014/main" id="{4165A8FA-F8F2-BB81-7A25-BAC3CE5F7833}"/>
              </a:ext>
            </a:extLst>
          </p:cNvPr>
          <p:cNvGrpSpPr/>
          <p:nvPr/>
        </p:nvGrpSpPr>
        <p:grpSpPr>
          <a:xfrm>
            <a:off x="952500" y="1119131"/>
            <a:ext cx="10287000" cy="4937760"/>
            <a:chOff x="0" y="0"/>
            <a:chExt cx="3979105" cy="1817995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9735837A-6C0D-4C37-4102-A167FF0AE6B0}"/>
                </a:ext>
              </a:extLst>
            </p:cNvPr>
            <p:cNvSpPr/>
            <p:nvPr/>
          </p:nvSpPr>
          <p:spPr>
            <a:xfrm>
              <a:off x="0" y="0"/>
              <a:ext cx="3979105" cy="1817995"/>
            </a:xfrm>
            <a:custGeom>
              <a:avLst/>
              <a:gdLst/>
              <a:ahLst/>
              <a:cxnLst/>
              <a:rect l="l" t="t" r="r" b="b"/>
              <a:pathLst>
                <a:path w="3979105" h="1817995">
                  <a:moveTo>
                    <a:pt x="26134" y="0"/>
                  </a:moveTo>
                  <a:lnTo>
                    <a:pt x="3952971" y="0"/>
                  </a:lnTo>
                  <a:cubicBezTo>
                    <a:pt x="3967405" y="0"/>
                    <a:pt x="3979105" y="11701"/>
                    <a:pt x="3979105" y="26134"/>
                  </a:cubicBezTo>
                  <a:lnTo>
                    <a:pt x="3979105" y="1791861"/>
                  </a:lnTo>
                  <a:cubicBezTo>
                    <a:pt x="3979105" y="1806295"/>
                    <a:pt x="3967405" y="1817995"/>
                    <a:pt x="3952971" y="1817995"/>
                  </a:cubicBezTo>
                  <a:lnTo>
                    <a:pt x="26134" y="1817995"/>
                  </a:lnTo>
                  <a:cubicBezTo>
                    <a:pt x="11701" y="1817995"/>
                    <a:pt x="0" y="1806295"/>
                    <a:pt x="0" y="1791861"/>
                  </a:cubicBezTo>
                  <a:lnTo>
                    <a:pt x="0" y="26134"/>
                  </a:lnTo>
                  <a:cubicBezTo>
                    <a:pt x="0" y="11701"/>
                    <a:pt x="11701" y="0"/>
                    <a:pt x="2613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17B92D6C-8F73-A487-01DE-8705E2FDBCE8}"/>
                </a:ext>
              </a:extLst>
            </p:cNvPr>
            <p:cNvSpPr txBox="1"/>
            <p:nvPr/>
          </p:nvSpPr>
          <p:spPr>
            <a:xfrm>
              <a:off x="0" y="-38100"/>
              <a:ext cx="3979105" cy="1856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1ECF741D-703A-6E70-BF10-8AA6D07EC09F}"/>
              </a:ext>
            </a:extLst>
          </p:cNvPr>
          <p:cNvSpPr/>
          <p:nvPr/>
        </p:nvSpPr>
        <p:spPr>
          <a:xfrm>
            <a:off x="1526770" y="1577902"/>
            <a:ext cx="8976360" cy="3936442"/>
          </a:xfrm>
          <a:custGeom>
            <a:avLst/>
            <a:gdLst/>
            <a:ahLst/>
            <a:cxnLst/>
            <a:rect l="l" t="t" r="r" b="b"/>
            <a:pathLst>
              <a:path w="13781845" h="5960648">
                <a:moveTo>
                  <a:pt x="0" y="0"/>
                </a:moveTo>
                <a:lnTo>
                  <a:pt x="13781845" y="0"/>
                </a:lnTo>
                <a:lnTo>
                  <a:pt x="13781845" y="5960648"/>
                </a:lnTo>
                <a:lnTo>
                  <a:pt x="0" y="5960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 dirty="0"/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C5C31A04-F63B-A447-1D6D-89F55422549D}"/>
              </a:ext>
            </a:extLst>
          </p:cNvPr>
          <p:cNvSpPr txBox="1"/>
          <p:nvPr/>
        </p:nvSpPr>
        <p:spPr>
          <a:xfrm>
            <a:off x="1731572" y="3831435"/>
            <a:ext cx="1786743" cy="782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18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Captura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digital (1 sola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foto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DD2CB678-F28D-9758-E76C-8902820B3CAA}"/>
              </a:ext>
            </a:extLst>
          </p:cNvPr>
          <p:cNvSpPr txBox="1"/>
          <p:nvPr/>
        </p:nvSpPr>
        <p:spPr>
          <a:xfrm>
            <a:off x="3973975" y="3799843"/>
            <a:ext cx="1786743" cy="782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Reduce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1A0409AC-BA7B-451B-8E48-D127CECB3F42}"/>
              </a:ext>
            </a:extLst>
          </p:cNvPr>
          <p:cNvSpPr txBox="1"/>
          <p:nvPr/>
        </p:nvSpPr>
        <p:spPr>
          <a:xfrm>
            <a:off x="6323830" y="3710967"/>
            <a:ext cx="1786743" cy="1193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18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Validación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continua para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contabilidad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EFE7C37C-425E-A41A-13C8-CAC95C5A5265}"/>
              </a:ext>
            </a:extLst>
          </p:cNvPr>
          <p:cNvSpPr txBox="1"/>
          <p:nvPr/>
        </p:nvSpPr>
        <p:spPr>
          <a:xfrm>
            <a:off x="8673685" y="3710966"/>
            <a:ext cx="1786743" cy="1193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18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Facilita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800" dirty="0" err="1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conciliación</a:t>
            </a:r>
            <a:r>
              <a:rPr lang="en-US" sz="18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final.</a:t>
            </a:r>
          </a:p>
        </p:txBody>
      </p:sp>
      <p:sp>
        <p:nvSpPr>
          <p:cNvPr id="13" name="Freeform 18">
            <a:extLst>
              <a:ext uri="{FF2B5EF4-FFF2-40B4-BE49-F238E27FC236}">
                <a16:creationId xmlns:a16="http://schemas.microsoft.com/office/drawing/2014/main" id="{EB40C38D-DE2C-EE7C-4EBF-C7CFF98ECD51}"/>
              </a:ext>
            </a:extLst>
          </p:cNvPr>
          <p:cNvSpPr/>
          <p:nvPr/>
        </p:nvSpPr>
        <p:spPr>
          <a:xfrm>
            <a:off x="2068205" y="2852448"/>
            <a:ext cx="960120" cy="735563"/>
          </a:xfrm>
          <a:custGeom>
            <a:avLst/>
            <a:gdLst/>
            <a:ahLst/>
            <a:cxnLst/>
            <a:rect l="l" t="t" r="r" b="b"/>
            <a:pathLst>
              <a:path w="1079091" h="825505">
                <a:moveTo>
                  <a:pt x="0" y="0"/>
                </a:moveTo>
                <a:lnTo>
                  <a:pt x="1079092" y="0"/>
                </a:lnTo>
                <a:lnTo>
                  <a:pt x="1079092" y="825505"/>
                </a:lnTo>
                <a:lnTo>
                  <a:pt x="0" y="825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20">
            <a:extLst>
              <a:ext uri="{FF2B5EF4-FFF2-40B4-BE49-F238E27FC236}">
                <a16:creationId xmlns:a16="http://schemas.microsoft.com/office/drawing/2014/main" id="{A9C2A2E1-0EDA-3CBF-0189-55F4C7A54FDD}"/>
              </a:ext>
            </a:extLst>
          </p:cNvPr>
          <p:cNvSpPr/>
          <p:nvPr/>
        </p:nvSpPr>
        <p:spPr>
          <a:xfrm>
            <a:off x="4388523" y="2662391"/>
            <a:ext cx="1128357" cy="1017437"/>
          </a:xfrm>
          <a:custGeom>
            <a:avLst/>
            <a:gdLst/>
            <a:ahLst/>
            <a:cxnLst/>
            <a:rect l="l" t="t" r="r" b="b"/>
            <a:pathLst>
              <a:path w="1107837" h="1105067">
                <a:moveTo>
                  <a:pt x="0" y="0"/>
                </a:moveTo>
                <a:lnTo>
                  <a:pt x="1107837" y="0"/>
                </a:lnTo>
                <a:lnTo>
                  <a:pt x="1107837" y="1105067"/>
                </a:lnTo>
                <a:lnTo>
                  <a:pt x="0" y="1105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21">
            <a:extLst>
              <a:ext uri="{FF2B5EF4-FFF2-40B4-BE49-F238E27FC236}">
                <a16:creationId xmlns:a16="http://schemas.microsoft.com/office/drawing/2014/main" id="{2420BD4E-195D-7945-3948-AE78A14A70C1}"/>
              </a:ext>
            </a:extLst>
          </p:cNvPr>
          <p:cNvSpPr/>
          <p:nvPr/>
        </p:nvSpPr>
        <p:spPr>
          <a:xfrm>
            <a:off x="6711180" y="2658434"/>
            <a:ext cx="1128357" cy="932518"/>
          </a:xfrm>
          <a:custGeom>
            <a:avLst/>
            <a:gdLst/>
            <a:ahLst/>
            <a:cxnLst/>
            <a:rect l="l" t="t" r="r" b="b"/>
            <a:pathLst>
              <a:path w="1244674" h="1244674">
                <a:moveTo>
                  <a:pt x="0" y="0"/>
                </a:moveTo>
                <a:lnTo>
                  <a:pt x="1244674" y="0"/>
                </a:lnTo>
                <a:lnTo>
                  <a:pt x="1244674" y="1244674"/>
                </a:lnTo>
                <a:lnTo>
                  <a:pt x="0" y="12446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9">
            <a:extLst>
              <a:ext uri="{FF2B5EF4-FFF2-40B4-BE49-F238E27FC236}">
                <a16:creationId xmlns:a16="http://schemas.microsoft.com/office/drawing/2014/main" id="{C453984C-7A6F-6970-D230-C273408030CD}"/>
              </a:ext>
            </a:extLst>
          </p:cNvPr>
          <p:cNvSpPr/>
          <p:nvPr/>
        </p:nvSpPr>
        <p:spPr>
          <a:xfrm>
            <a:off x="9078488" y="2654051"/>
            <a:ext cx="1128357" cy="1017438"/>
          </a:xfrm>
          <a:custGeom>
            <a:avLst/>
            <a:gdLst/>
            <a:ahLst/>
            <a:cxnLst/>
            <a:rect l="l" t="t" r="r" b="b"/>
            <a:pathLst>
              <a:path w="1153985" h="1330242">
                <a:moveTo>
                  <a:pt x="0" y="0"/>
                </a:moveTo>
                <a:lnTo>
                  <a:pt x="1153986" y="0"/>
                </a:lnTo>
                <a:lnTo>
                  <a:pt x="1153986" y="1330243"/>
                </a:lnTo>
                <a:lnTo>
                  <a:pt x="0" y="13302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1" title="datumredsoft-horizontal-logo-reve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5825" y="6124575"/>
            <a:ext cx="2561224" cy="51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 descr="Gráfico, Diagrama&#10;&#10;El contenido generado por IA puede ser incorrecto.">
            <a:extLst>
              <a:ext uri="{FF2B5EF4-FFF2-40B4-BE49-F238E27FC236}">
                <a16:creationId xmlns:a16="http://schemas.microsoft.com/office/drawing/2014/main" id="{3CF7FD9E-46B2-A694-EA1A-62E4258D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612" y="1582953"/>
            <a:ext cx="9295825" cy="4282028"/>
          </a:xfrm>
          <a:prstGeom prst="rect">
            <a:avLst/>
          </a:prstGeom>
        </p:spPr>
      </p:pic>
      <p:sp>
        <p:nvSpPr>
          <p:cNvPr id="4" name="TextBox 15">
            <a:extLst>
              <a:ext uri="{FF2B5EF4-FFF2-40B4-BE49-F238E27FC236}">
                <a16:creationId xmlns:a16="http://schemas.microsoft.com/office/drawing/2014/main" id="{EDB11466-5C78-5E42-2D01-A44878D6EE21}"/>
              </a:ext>
            </a:extLst>
          </p:cNvPr>
          <p:cNvSpPr txBox="1"/>
          <p:nvPr/>
        </p:nvSpPr>
        <p:spPr>
          <a:xfrm>
            <a:off x="989445" y="599959"/>
            <a:ext cx="7584283" cy="732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286"/>
              </a:lnSpc>
              <a:spcBef>
                <a:spcPct val="0"/>
              </a:spcBef>
            </a:pPr>
            <a:r>
              <a:rPr lang="en-US" sz="4000" b="1" dirty="0" err="1">
                <a:solidFill>
                  <a:srgbClr val="FF0000"/>
                </a:solidFill>
                <a:latin typeface="Montserrat ExtraBold" panose="00000900000000000000" pitchFamily="2" charset="0"/>
                <a:ea typeface="Poppins Bold"/>
                <a:cs typeface="Poppins Bold"/>
                <a:sym typeface="Poppins Bold"/>
              </a:rPr>
              <a:t>Diagrama</a:t>
            </a:r>
            <a:r>
              <a:rPr lang="en-US" sz="4000" b="1" dirty="0">
                <a:solidFill>
                  <a:srgbClr val="FF0000"/>
                </a:solidFill>
                <a:latin typeface="Montserrat ExtraBold" panose="00000900000000000000" pitchFamily="2" charset="0"/>
                <a:ea typeface="Poppins Bold"/>
                <a:cs typeface="Poppins Bold"/>
                <a:sym typeface="Poppins Bold"/>
              </a:rPr>
              <a:t> de </a:t>
            </a:r>
            <a:r>
              <a:rPr lang="en-US" sz="4000" b="1" dirty="0" err="1">
                <a:solidFill>
                  <a:srgbClr val="FF0000"/>
                </a:solidFill>
                <a:latin typeface="Montserrat ExtraBold" panose="00000900000000000000" pitchFamily="2" charset="0"/>
                <a:ea typeface="Poppins Bold"/>
                <a:cs typeface="Poppins Bold"/>
                <a:sym typeface="Poppins Bold"/>
              </a:rPr>
              <a:t>Arquitectura</a:t>
            </a:r>
            <a:endParaRPr lang="en-US" sz="4000" b="1" u="none" strike="noStrike" dirty="0">
              <a:solidFill>
                <a:srgbClr val="FF0000"/>
              </a:solidFill>
              <a:latin typeface="Montserrat ExtraBold" panose="00000900000000000000" pitchFamily="2" charset="0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 txBox="1"/>
          <p:nvPr/>
        </p:nvSpPr>
        <p:spPr>
          <a:xfrm>
            <a:off x="3609900" y="539527"/>
            <a:ext cx="49722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Tight ExtraBold"/>
              <a:buNone/>
            </a:pPr>
            <a:r>
              <a:rPr lang="en-US" sz="4000" i="0" u="none" dirty="0" err="1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Retos</a:t>
            </a:r>
            <a:r>
              <a:rPr lang="en-US" sz="4000" i="0" u="none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y </a:t>
            </a:r>
            <a:r>
              <a:rPr lang="en-US" sz="4000" i="0" u="none" dirty="0" err="1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decisiones</a:t>
            </a:r>
            <a:r>
              <a:rPr lang="en-US" sz="4000" i="0" u="none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.</a:t>
            </a:r>
            <a:endParaRPr dirty="0">
              <a:solidFill>
                <a:schemeClr val="bg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5" name="Google Shape;335;p35"/>
          <p:cNvSpPr txBox="1"/>
          <p:nvPr/>
        </p:nvSpPr>
        <p:spPr>
          <a:xfrm>
            <a:off x="1965425" y="4133341"/>
            <a:ext cx="281386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Tight Medium"/>
              <a:buNone/>
            </a:pPr>
            <a:r>
              <a:rPr lang="en-US" sz="1600" i="0" u="none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Reto: </a:t>
            </a:r>
            <a:r>
              <a:rPr lang="en-US" sz="1600" i="0" u="none" dirty="0" err="1">
                <a:solidFill>
                  <a:srgbClr val="FF000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Implementar</a:t>
            </a:r>
            <a:r>
              <a:rPr lang="en-US" sz="1600" i="0" u="none" dirty="0">
                <a:solidFill>
                  <a:srgbClr val="FF000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OCR con Azure Cognitive Services</a:t>
            </a:r>
            <a:endParaRPr sz="1600" dirty="0">
              <a:solidFill>
                <a:srgbClr val="FF000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36" name="Google Shape;336;p35"/>
          <p:cNvSpPr txBox="1"/>
          <p:nvPr/>
        </p:nvSpPr>
        <p:spPr>
          <a:xfrm>
            <a:off x="6184624" y="4964297"/>
            <a:ext cx="5034276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s-MX" sz="1600" b="1" i="0" u="none" dirty="0" err="1">
                <a:solidFill>
                  <a:srgbClr val="FF0000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Decisi</a:t>
            </a:r>
            <a:r>
              <a:rPr lang="es-SV" sz="1600" b="1" dirty="0" err="1">
                <a:solidFill>
                  <a:srgbClr val="FF0000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ón</a:t>
            </a:r>
            <a:r>
              <a:rPr lang="es-MX" sz="1600" b="1" dirty="0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s-MX" sz="1600" b="1" i="0" u="none" dirty="0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Implementar </a:t>
            </a:r>
            <a:r>
              <a:rPr lang="es-MX" sz="1600" b="1" i="0" u="none" dirty="0" err="1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OpenKM</a:t>
            </a:r>
            <a:r>
              <a:rPr lang="es-MX" sz="1600" b="1" i="0" u="none" dirty="0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 como gestor documental, enlazando cada factura escaneada con su registro dentro </a:t>
            </a:r>
            <a:r>
              <a:rPr lang="es-MX" sz="1800" b="1" i="0" u="none" dirty="0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del</a:t>
            </a:r>
            <a:r>
              <a:rPr lang="es-MX" sz="1600" b="1" i="0" u="none" dirty="0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 sistema.</a:t>
            </a:r>
            <a:endParaRPr lang="es-MX" sz="2000" b="1" dirty="0">
              <a:latin typeface="Montserrat ExtraBold" panose="00000900000000000000" pitchFamily="2" charset="0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6232838" y="4133341"/>
            <a:ext cx="326708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2"/>
              </a:buClr>
              <a:buSzPts val="1200"/>
            </a:pPr>
            <a:r>
              <a:rPr lang="en-US" sz="16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Reto: </a:t>
            </a:r>
            <a:r>
              <a:rPr lang="es-MX" sz="1600" i="0" u="none" dirty="0">
                <a:solidFill>
                  <a:srgbClr val="FF000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Centralizar y organizar los comprobantes digitales de cada colaborador.</a:t>
            </a:r>
            <a:endParaRPr sz="1600" dirty="0">
              <a:solidFill>
                <a:srgbClr val="FF000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Marcador de posición de imagen 3" descr="Imagen que contiene computadora&#10;&#10;El contenido generado por IA puede ser incorrecto.">
            <a:extLst>
              <a:ext uri="{FF2B5EF4-FFF2-40B4-BE49-F238E27FC236}">
                <a16:creationId xmlns:a16="http://schemas.microsoft.com/office/drawing/2014/main" id="{D9E0E9E6-A950-C30A-C83A-0020906D5E0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695" r="2695"/>
          <a:stretch>
            <a:fillRect/>
          </a:stretch>
        </p:blipFill>
        <p:spPr>
          <a:xfrm>
            <a:off x="1965425" y="2133252"/>
            <a:ext cx="2298738" cy="1819940"/>
          </a:xfrm>
          <a:prstGeom prst="roundRect">
            <a:avLst>
              <a:gd name="adj" fmla="val 16667"/>
            </a:avLst>
          </a:prstGeom>
        </p:spPr>
      </p:pic>
      <p:pic>
        <p:nvPicPr>
          <p:cNvPr id="6" name="Marcador de posición de imagen 5" descr="Imagen que contiene Sitio web&#10;&#10;El contenido generado por IA puede ser incorrecto.">
            <a:extLst>
              <a:ext uri="{FF2B5EF4-FFF2-40B4-BE49-F238E27FC236}">
                <a16:creationId xmlns:a16="http://schemas.microsoft.com/office/drawing/2014/main" id="{6BDB197B-699D-DACD-8157-A77E53173AAF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4"/>
          <a:srcRect l="14490" r="14490"/>
          <a:stretch>
            <a:fillRect/>
          </a:stretch>
        </p:blipFill>
        <p:spPr>
          <a:xfrm>
            <a:off x="6232838" y="1995725"/>
            <a:ext cx="2468924" cy="1954676"/>
          </a:xfrm>
          <a:prstGeom prst="roundRect">
            <a:avLst>
              <a:gd name="adj" fmla="val 16667"/>
            </a:avLst>
          </a:prstGeom>
        </p:spPr>
      </p:pic>
      <p:pic>
        <p:nvPicPr>
          <p:cNvPr id="348" name="Google Shape;348;p35" title="datumredsoft-horizontal-logo-revers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5825" y="6124575"/>
            <a:ext cx="2561224" cy="5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36;p35">
            <a:extLst>
              <a:ext uri="{FF2B5EF4-FFF2-40B4-BE49-F238E27FC236}">
                <a16:creationId xmlns:a16="http://schemas.microsoft.com/office/drawing/2014/main" id="{B07ECD9F-DCBB-A2F7-80BA-3601097A01A2}"/>
              </a:ext>
            </a:extLst>
          </p:cNvPr>
          <p:cNvSpPr txBox="1"/>
          <p:nvPr/>
        </p:nvSpPr>
        <p:spPr>
          <a:xfrm>
            <a:off x="1886862" y="5051816"/>
            <a:ext cx="354518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s-MX" sz="1600" b="1" i="0" u="none" dirty="0" err="1">
                <a:solidFill>
                  <a:srgbClr val="FF0000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Decisi</a:t>
            </a:r>
            <a:r>
              <a:rPr lang="es-SV" sz="1600" b="1" dirty="0" err="1">
                <a:solidFill>
                  <a:srgbClr val="FF0000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ón</a:t>
            </a:r>
            <a:r>
              <a:rPr lang="es-MX" sz="1600" b="1" dirty="0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s-MX" sz="1600" b="1" i="0" u="none" dirty="0">
                <a:solidFill>
                  <a:schemeClr val="lt1"/>
                </a:solidFill>
                <a:latin typeface="Montserrat ExtraBold" panose="00000900000000000000" pitchFamily="2" charset="0"/>
                <a:ea typeface="Montserrat Medium"/>
                <a:cs typeface="Montserrat Medium"/>
                <a:sym typeface="Montserrat Medium"/>
              </a:rPr>
              <a:t>Configurar el sistema para trabajar solo con imágenes (JPG, PNG).</a:t>
            </a:r>
            <a:endParaRPr lang="es-MX" sz="2000" b="1" dirty="0">
              <a:latin typeface="Montserrat ExtraBold" panose="00000900000000000000" pitchFamily="2" charset="0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"/>
          <p:cNvSpPr/>
          <p:nvPr/>
        </p:nvSpPr>
        <p:spPr>
          <a:xfrm>
            <a:off x="2055233" y="33"/>
            <a:ext cx="8167200" cy="216300"/>
          </a:xfrm>
          <a:prstGeom prst="rect">
            <a:avLst/>
          </a:prstGeom>
          <a:solidFill>
            <a:srgbClr val="FF00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354" name="Google Shape;354;p36"/>
          <p:cNvSpPr txBox="1"/>
          <p:nvPr/>
        </p:nvSpPr>
        <p:spPr>
          <a:xfrm>
            <a:off x="3516131" y="5964314"/>
            <a:ext cx="14208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n-US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Teléfono: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n-US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(503) 2209-9000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473598" y="6041305"/>
            <a:ext cx="3423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n-US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World Trade Center, Torre I, 3er Nivel 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n-US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No. 301 San Salvador, El Salvador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5169819" y="5964314"/>
            <a:ext cx="19380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n-US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Correo: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 Tight Medium"/>
              <a:buNone/>
            </a:pPr>
            <a:r>
              <a:rPr lang="en-US" sz="11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info@datumredsoft.com</a:t>
            </a:r>
            <a:endParaRPr sz="11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57" name="Google Shape;357;p36"/>
          <p:cNvCxnSpPr/>
          <p:nvPr/>
        </p:nvCxnSpPr>
        <p:spPr>
          <a:xfrm>
            <a:off x="539848" y="5820114"/>
            <a:ext cx="10927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6" title="Slogan 2024 Datum Redsoft w.png"/>
          <p:cNvPicPr preferRelativeResize="0"/>
          <p:nvPr/>
        </p:nvPicPr>
        <p:blipFill rotWithShape="1">
          <a:blip r:embed="rId3">
            <a:alphaModFix/>
          </a:blip>
          <a:srcRect l="49" r="49"/>
          <a:stretch/>
        </p:blipFill>
        <p:spPr>
          <a:xfrm>
            <a:off x="3431054" y="1753451"/>
            <a:ext cx="5329900" cy="252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6" title="datumredsoft-horizontal-logo-rever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030" y="3920269"/>
            <a:ext cx="2493588" cy="5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6" title="red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6633" y="6170940"/>
            <a:ext cx="1420800" cy="28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mpany Profile Color">
      <a:dk1>
        <a:srgbClr val="000000"/>
      </a:dk1>
      <a:lt1>
        <a:srgbClr val="FFFFFF"/>
      </a:lt1>
      <a:dk2>
        <a:srgbClr val="AAFF03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Panorámica</PresentationFormat>
  <Paragraphs>49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Montserrat Medium</vt:lpstr>
      <vt:lpstr>Montserrat ExtraBold</vt:lpstr>
      <vt:lpstr>Inter Tight ExtraBold</vt:lpstr>
      <vt:lpstr>Inter Tight Medium</vt:lpstr>
      <vt:lpstr>Montserrat</vt:lpstr>
      <vt:lpstr>Arial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Alejandra del Carmen Ponce López</dc:creator>
  <cp:lastModifiedBy>Alejandra del Carmen Ponce López</cp:lastModifiedBy>
  <cp:revision>1</cp:revision>
  <dcterms:modified xsi:type="dcterms:W3CDTF">2025-11-06T03:30:43Z</dcterms:modified>
</cp:coreProperties>
</file>